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8DE7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3716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8DE718"/>
                </a:solidFill>
                <a:latin typeface="Calibri"/>
              </a:defRPr>
            </a:pPr>
            <a:r>
              <a:t>TOKENIZA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46888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FFFFF"/>
                </a:solidFill>
                <a:latin typeface="Calibri"/>
              </a:defRPr>
            </a:pPr>
            <a:r>
              <a:t>Conectando Ativos Reais Brasileiros ao Capital Global.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3657600"/>
            <a:ext cx="2103120" cy="36576"/>
          </a:xfrm>
          <a:prstGeom prst="rect">
            <a:avLst/>
          </a:prstGeom>
          <a:solidFill>
            <a:srgbClr val="8DE7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39319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949494"/>
                </a:solidFill>
                <a:latin typeface="Calibri"/>
              </a:defRPr>
            </a:pPr>
            <a:r>
              <a:t>Aceleração Next  |  FENASBAC Inovação  |  Next Day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47548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Filipe Chagas — COO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8DE7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8DE7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1A1A"/>
                </a:solidFill>
                <a:latin typeface="Calibri"/>
              </a:defRPr>
            </a:pPr>
            <a:r>
              <a:t>Liderança Multidisciplinar com Track Record Comprovado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73152" cy="548640"/>
          </a:xfrm>
          <a:prstGeom prst="rect">
            <a:avLst/>
          </a:prstGeom>
          <a:solidFill>
            <a:srgbClr val="8DE7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2344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A3A3A"/>
                </a:solidFill>
                <a:latin typeface="Calibri"/>
              </a:defRPr>
            </a:pPr>
            <a:r>
              <a:t>O time combina expertise jurídica, tecnológica e operacional — com regulação conquistada,</a:t>
            </a:r>
            <a:br/>
            <a:r>
              <a:t>infraestrutura provada e expansão internacional em andamento.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286000"/>
            <a:ext cx="2011680" cy="2560320"/>
          </a:xfrm>
          <a:prstGeom prst="rect">
            <a:avLst/>
          </a:prstGeom>
          <a:solidFill>
            <a:srgbClr val="F3FD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2286000"/>
            <a:ext cx="2011680" cy="54864"/>
          </a:xfrm>
          <a:prstGeom prst="rect">
            <a:avLst/>
          </a:prstGeom>
          <a:solidFill>
            <a:srgbClr val="8DE7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56032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A1A1A"/>
                </a:solidFill>
                <a:latin typeface="Calibri"/>
              </a:defRPr>
            </a:pPr>
            <a:r>
              <a:t>Arthur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01752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63C100"/>
                </a:solidFill>
                <a:latin typeface="Calibri"/>
              </a:defRPr>
            </a:pPr>
            <a:r>
              <a:t>CEO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474720"/>
            <a:ext cx="1645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3A3A3A"/>
                </a:solidFill>
                <a:latin typeface="Calibri"/>
              </a:defRPr>
            </a:pPr>
            <a:r>
              <a:t>Conquistou a autorização CVM.</a:t>
            </a:r>
            <a:br/>
            <a:r>
              <a:t>Regulação e estratégia.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926080" y="2286000"/>
            <a:ext cx="2011680" cy="2560320"/>
          </a:xfrm>
          <a:prstGeom prst="rect">
            <a:avLst/>
          </a:prstGeom>
          <a:solidFill>
            <a:srgbClr val="F3FD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926080" y="2286000"/>
            <a:ext cx="2011680" cy="54864"/>
          </a:xfrm>
          <a:prstGeom prst="rect">
            <a:avLst/>
          </a:prstGeom>
          <a:solidFill>
            <a:srgbClr val="8DE7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108960" y="256032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A1A1A"/>
                </a:solidFill>
                <a:latin typeface="Calibri"/>
              </a:defRPr>
            </a:pPr>
            <a:r>
              <a:t>Matheus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60" y="301752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63C100"/>
                </a:solidFill>
                <a:latin typeface="Calibri"/>
              </a:defRPr>
            </a:pPr>
            <a:r>
              <a:t>CLO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08960" y="3474720"/>
            <a:ext cx="1645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3A3A3A"/>
                </a:solidFill>
                <a:latin typeface="Calibri"/>
              </a:defRPr>
            </a:pPr>
            <a:r>
              <a:t>Compliance de ponta.</a:t>
            </a:r>
            <a:br/>
            <a:r>
              <a:t>Garante conformidade total.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120640" y="2286000"/>
            <a:ext cx="2011680" cy="2560320"/>
          </a:xfrm>
          <a:prstGeom prst="rect">
            <a:avLst/>
          </a:prstGeom>
          <a:solidFill>
            <a:srgbClr val="F3FD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120640" y="2286000"/>
            <a:ext cx="2011680" cy="54864"/>
          </a:xfrm>
          <a:prstGeom prst="rect">
            <a:avLst/>
          </a:prstGeom>
          <a:solidFill>
            <a:srgbClr val="8DE7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03520" y="256032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A1A1A"/>
                </a:solidFill>
                <a:latin typeface="Calibri"/>
              </a:defRPr>
            </a:pPr>
            <a:r>
              <a:t>Mateus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03520" y="301752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63C100"/>
                </a:solidFill>
                <a:latin typeface="Calibri"/>
              </a:defRPr>
            </a:pPr>
            <a:r>
              <a:t>CTO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03520" y="3474720"/>
            <a:ext cx="1645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3A3A3A"/>
                </a:solidFill>
                <a:latin typeface="Calibri"/>
              </a:defRPr>
            </a:pPr>
            <a:r>
              <a:t>Infraestrutura blockchain.</a:t>
            </a:r>
            <a:br/>
            <a:r>
              <a:t>Maiores volumes na Moonbeam.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0" y="2286000"/>
            <a:ext cx="2011680" cy="2560320"/>
          </a:xfrm>
          <a:prstGeom prst="rect">
            <a:avLst/>
          </a:prstGeom>
          <a:solidFill>
            <a:srgbClr val="F3FD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315200" y="2286000"/>
            <a:ext cx="2011680" cy="54864"/>
          </a:xfrm>
          <a:prstGeom prst="rect">
            <a:avLst/>
          </a:prstGeom>
          <a:solidFill>
            <a:srgbClr val="8DE7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98080" y="256032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A1A1A"/>
                </a:solidFill>
                <a:latin typeface="Calibri"/>
              </a:defRPr>
            </a:pPr>
            <a:r>
              <a:t>Mychel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80" y="301752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63C100"/>
                </a:solidFill>
                <a:latin typeface="Calibri"/>
              </a:defRPr>
            </a:pPr>
            <a:r>
              <a:t>Co-CEO Europa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98080" y="3474720"/>
            <a:ext cx="1645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3A3A3A"/>
                </a:solidFill>
                <a:latin typeface="Calibri"/>
              </a:defRPr>
            </a:pPr>
            <a:r>
              <a:t>Expansão internacional.</a:t>
            </a:r>
            <a:br/>
            <a:r>
              <a:t>Relocando para Portugal.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509760" y="2286000"/>
            <a:ext cx="2011680" cy="2560320"/>
          </a:xfrm>
          <a:prstGeom prst="rect">
            <a:avLst/>
          </a:prstGeom>
          <a:solidFill>
            <a:srgbClr val="F3FD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509760" y="2286000"/>
            <a:ext cx="2011680" cy="54864"/>
          </a:xfrm>
          <a:prstGeom prst="rect">
            <a:avLst/>
          </a:prstGeom>
          <a:solidFill>
            <a:srgbClr val="8DE7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92640" y="256032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A1A1A"/>
                </a:solidFill>
                <a:latin typeface="Calibri"/>
              </a:defRPr>
            </a:pPr>
            <a:r>
              <a:t>Filipe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92640" y="301752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63C100"/>
                </a:solidFill>
                <a:latin typeface="Calibri"/>
              </a:defRPr>
            </a:pPr>
            <a:r>
              <a:t>COO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92640" y="3474720"/>
            <a:ext cx="1645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3A3A3A"/>
                </a:solidFill>
                <a:latin typeface="Calibri"/>
              </a:defRPr>
            </a:pPr>
            <a:r>
              <a:t>Operação e execução.</a:t>
            </a:r>
            <a:br/>
            <a:r>
              <a:t>Garante que tudo roda.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31520" y="5303520"/>
            <a:ext cx="10698480" cy="9144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400" y="539496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8DE718"/>
                </a:solidFill>
                <a:latin typeface="Calibri"/>
              </a:defRPr>
            </a:pPr>
            <a:r>
              <a:t>R$22M Captados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66160" y="539496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8DE718"/>
                </a:solidFill>
                <a:latin typeface="Calibri"/>
              </a:defRPr>
            </a:pPr>
            <a:r>
              <a:t>136 Ofertas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17920" y="539496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8DE718"/>
                </a:solidFill>
                <a:latin typeface="Calibri"/>
              </a:defRPr>
            </a:pPr>
            <a:r>
              <a:t>0% Default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869680" y="539496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8DE718"/>
                </a:solidFill>
                <a:latin typeface="Calibri"/>
              </a:defRPr>
            </a:pPr>
            <a:r>
              <a:t>72% Retenção</a:t>
            </a:r>
          </a:p>
        </p:txBody>
      </p:sp>
      <p:sp>
        <p:nvSpPr>
          <p:cNvPr id="36" name="Rectangle 35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8DE7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8DE7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A1A1A"/>
                </a:solidFill>
                <a:latin typeface="Calibri"/>
              </a:defRPr>
            </a:pPr>
            <a:r>
              <a:t>Brasil: Maior Oportunidade Não Descoberta para o Capital Global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73152" cy="457200"/>
          </a:xfrm>
          <a:prstGeom prst="rect">
            <a:avLst/>
          </a:prstGeom>
          <a:solidFill>
            <a:srgbClr val="8DE7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2344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A3A3A"/>
                </a:solidFill>
                <a:latin typeface="Calibri"/>
              </a:defRPr>
            </a:pPr>
            <a:r>
              <a:t>O Brasil concentra uma das maiores assimetrias de rendimento do mundo.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011680"/>
            <a:ext cx="5029200" cy="2286000"/>
          </a:xfrm>
          <a:prstGeom prst="rect">
            <a:avLst/>
          </a:prstGeom>
          <a:solidFill>
            <a:srgbClr val="F3F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63C100"/>
                </a:solidFill>
                <a:latin typeface="Calibri"/>
              </a:defRPr>
            </a:pPr>
            <a:r>
              <a:t>A Assimetria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517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A1A1A"/>
                </a:solidFill>
                <a:latin typeface="Calibri"/>
              </a:defRPr>
            </a:pPr>
            <a:r>
              <a:t>Retorno de 15–18% a.a. em ativos reais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1089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49494"/>
                </a:solidFill>
                <a:latin typeface="Calibri"/>
              </a:defRPr>
            </a:pPr>
            <a:r>
              <a:t>vs. mercados europeus com 3–5%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2011680"/>
            <a:ext cx="5029200" cy="2286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21031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8DE718"/>
                </a:solidFill>
                <a:latin typeface="Calibri"/>
              </a:defRPr>
            </a:pPr>
            <a:r>
              <a:t>O Problema dos Dois Lados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651760"/>
            <a:ext cx="4572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  <a:latin typeface="Calibri"/>
              </a:defRPr>
              <a:buChar char="●"/>
              <a:buClr>
                <a:srgbClr val="8DE718"/>
              </a:buClr>
            </a:pPr>
            <a:r>
              <a:t>Investidor internacional: sem acesso eficiente a ativos brasileiros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  <a:latin typeface="Calibri"/>
              </a:defRPr>
              <a:buChar char="●"/>
              <a:buClr>
                <a:srgbClr val="8DE718"/>
              </a:buClr>
            </a:pPr>
            <a:r>
              <a:t>Emissor brasileiro: sem canal de distribuição global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  <a:latin typeface="Calibri"/>
              </a:defRPr>
              <a:buChar char="●"/>
              <a:buClr>
                <a:srgbClr val="8DE718"/>
              </a:buClr>
            </a:pPr>
            <a:r>
              <a:t>Mercado: fragmentação e falta de infraestrutura cross-border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4754880"/>
            <a:ext cx="10698480" cy="146304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484632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8DE718"/>
                </a:solidFill>
                <a:latin typeface="Calibri"/>
              </a:defRPr>
            </a:pPr>
            <a:r>
              <a:t>TAMANHO DO MERCADO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52120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8DE718"/>
                </a:solidFill>
                <a:latin typeface="Calibri"/>
              </a:defRPr>
            </a:pPr>
            <a:r>
              <a:t>TAM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4864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  <a:latin typeface="Calibri"/>
              </a:defRPr>
            </a:pPr>
            <a:r>
              <a:t>US$16 tri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58521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9494"/>
                </a:solidFill>
                <a:latin typeface="Calibri"/>
              </a:defRPr>
            </a:pPr>
            <a:r>
              <a:t>Global RWA (2030)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46320" y="52120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8DE718"/>
                </a:solidFill>
                <a:latin typeface="Calibri"/>
              </a:defRPr>
            </a:pPr>
            <a:r>
              <a:t>SAM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46320" y="54864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  <a:latin typeface="Calibri"/>
              </a:defRPr>
            </a:pPr>
            <a:r>
              <a:t>US$5 tri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46320" y="58521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9494"/>
                </a:solidFill>
                <a:latin typeface="Calibri"/>
              </a:defRPr>
            </a:pPr>
            <a:r>
              <a:t>Brasil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52120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8DE718"/>
                </a:solidFill>
                <a:latin typeface="Calibri"/>
              </a:defRPr>
            </a:pPr>
            <a:r>
              <a:t>SOM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0" y="54864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  <a:latin typeface="Calibri"/>
              </a:defRPr>
            </a:pPr>
            <a:r>
              <a:t>US$160–480M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21040" y="58521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9494"/>
                </a:solidFill>
                <a:latin typeface="Calibri"/>
              </a:defRPr>
            </a:pPr>
            <a:r>
              <a:t>Tokeniza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8DE7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8DE7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A1A1A"/>
                </a:solidFill>
                <a:latin typeface="Calibri"/>
              </a:defRPr>
            </a:pPr>
            <a:r>
              <a:t>O Desafio: Infraestrutura Institucional na XRP Ledger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73152" cy="457200"/>
          </a:xfrm>
          <a:prstGeom prst="rect">
            <a:avLst/>
          </a:prstGeom>
          <a:solidFill>
            <a:srgbClr val="8DE7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2344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A3A3A"/>
                </a:solidFill>
                <a:latin typeface="Calibri"/>
              </a:defRPr>
            </a:pPr>
            <a:r>
              <a:t>A FENASBAC e a XRPL buscam startups que desenvolvam soluções de nível institucional.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011680"/>
            <a:ext cx="5029200" cy="2743200"/>
          </a:xfrm>
          <a:prstGeom prst="rect">
            <a:avLst/>
          </a:prstGeom>
          <a:solidFill>
            <a:srgbClr val="F3F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63C100"/>
                </a:solidFill>
                <a:latin typeface="Calibri"/>
              </a:defRPr>
            </a:pPr>
            <a:r>
              <a:t>Foco do Desafio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51760"/>
            <a:ext cx="4572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3A3A3A"/>
                </a:solidFill>
                <a:latin typeface="Calibri"/>
              </a:defRPr>
              <a:buChar char="●"/>
              <a:buClr>
                <a:srgbClr val="8DE718"/>
              </a:buClr>
            </a:pPr>
            <a:r>
              <a:t>Infraestrutura de crédito via tokenização de HQLA</a:t>
            </a:r>
          </a:p>
          <a:p>
            <a:pPr>
              <a:spcAft>
                <a:spcPts val="800"/>
              </a:spcAft>
              <a:defRPr sz="1500">
                <a:solidFill>
                  <a:srgbClr val="3A3A3A"/>
                </a:solidFill>
                <a:latin typeface="Calibri"/>
              </a:defRPr>
              <a:buChar char="●"/>
              <a:buClr>
                <a:srgbClr val="8DE718"/>
              </a:buClr>
            </a:pPr>
            <a:r>
              <a:t>Antecipação de recebíveis e protocolos de lending</a:t>
            </a:r>
          </a:p>
          <a:p>
            <a:pPr>
              <a:spcAft>
                <a:spcPts val="800"/>
              </a:spcAft>
              <a:defRPr sz="1500">
                <a:solidFill>
                  <a:srgbClr val="3A3A3A"/>
                </a:solidFill>
                <a:latin typeface="Calibri"/>
              </a:defRPr>
              <a:buChar char="●"/>
              <a:buClr>
                <a:srgbClr val="8DE718"/>
              </a:buClr>
            </a:pPr>
            <a:r>
              <a:t>Pagamentos com stablecoins pareadas em real</a:t>
            </a:r>
          </a:p>
          <a:p>
            <a:pPr>
              <a:spcAft>
                <a:spcPts val="800"/>
              </a:spcAft>
              <a:defRPr sz="1500">
                <a:solidFill>
                  <a:srgbClr val="3A3A3A"/>
                </a:solidFill>
                <a:latin typeface="Calibri"/>
              </a:defRPr>
              <a:buChar char="●"/>
              <a:buClr>
                <a:srgbClr val="8DE718"/>
              </a:buClr>
            </a:pPr>
            <a:r>
              <a:t>Ciclo completo: originação → estruturação → distribuição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0" y="2011680"/>
            <a:ext cx="5029200" cy="27432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21031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8DE718"/>
                </a:solidFill>
                <a:latin typeface="Calibri"/>
              </a:defRPr>
            </a:pPr>
            <a:r>
              <a:t>Resposta Tokeniza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743200"/>
            <a:ext cx="4572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t>A Tokeniza já opera o ciclo completo no Brasil.</a:t>
            </a:r>
            <a:br/>
            <a:br/>
            <a:r>
              <a:t>A proposta é portar esse ecossistema provado para dentro da XRPL — com tBRL como stablecoin nativa de liquidação.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5029200"/>
            <a:ext cx="10698480" cy="1188720"/>
          </a:xfrm>
          <a:prstGeom prst="rect">
            <a:avLst/>
          </a:prstGeom>
          <a:solidFill>
            <a:srgbClr val="63C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5120640"/>
            <a:ext cx="10332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FFFF"/>
                </a:solidFill>
                <a:latin typeface="Calibri"/>
              </a:defRPr>
            </a:pPr>
            <a:r>
              <a:t>O Brasil possui um dos maiores mercados de recebíveis e crédito estruturado do mundo — com retornos 3 a 5x superiores aos europeus. A Tokeniza vai ocupar esse espaço na XRPL.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8DE7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8DE7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A1A1A"/>
                </a:solidFill>
                <a:latin typeface="Calibri"/>
              </a:defRPr>
            </a:pPr>
            <a:r>
              <a:t>Um Ecossistema Completo Pronto Para a XRPL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73152" cy="457200"/>
          </a:xfrm>
          <a:prstGeom prst="rect">
            <a:avLst/>
          </a:prstGeom>
          <a:solidFill>
            <a:srgbClr val="8DE7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2344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A3A3A"/>
                </a:solidFill>
                <a:latin typeface="Calibri"/>
              </a:defRPr>
            </a:pPr>
            <a:r>
              <a:t>Não é construir algo novo. É portar um ecossistema já operante para dentro da XRP Ledger.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202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63C100"/>
                </a:solidFill>
                <a:latin typeface="Calibri"/>
              </a:defRPr>
            </a:pPr>
            <a:r>
              <a:t>Maturidade Comprovada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377440"/>
            <a:ext cx="5943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3A3A3A"/>
                </a:solidFill>
                <a:latin typeface="Calibri"/>
              </a:defRPr>
              <a:buChar char="●"/>
              <a:buClr>
                <a:srgbClr val="8DE718"/>
              </a:buClr>
            </a:pPr>
            <a:r>
              <a:t>Primeira no Brasil com autorização CVM para crowdfunding via tokens (Res. 88)</a:t>
            </a:r>
          </a:p>
          <a:p>
            <a:pPr>
              <a:spcAft>
                <a:spcPts val="800"/>
              </a:spcAft>
              <a:defRPr sz="1300">
                <a:solidFill>
                  <a:srgbClr val="3A3A3A"/>
                </a:solidFill>
                <a:latin typeface="Calibri"/>
              </a:defRPr>
              <a:buChar char="●"/>
              <a:buClr>
                <a:srgbClr val="8DE718"/>
              </a:buClr>
            </a:pPr>
            <a:r>
              <a:t>136 ofertas estruturadas — recebíveis, crédito, energia solar, imóveis, equity</a:t>
            </a:r>
          </a:p>
          <a:p>
            <a:pPr>
              <a:spcAft>
                <a:spcPts val="800"/>
              </a:spcAft>
              <a:defRPr sz="1300">
                <a:solidFill>
                  <a:srgbClr val="3A3A3A"/>
                </a:solidFill>
                <a:latin typeface="Calibri"/>
              </a:defRPr>
              <a:buChar char="●"/>
              <a:buClr>
                <a:srgbClr val="8DE718"/>
              </a:buClr>
            </a:pPr>
            <a:r>
              <a:t>Ciclo completo: originação → estruturação → distribuição → custódia</a:t>
            </a:r>
          </a:p>
          <a:p>
            <a:pPr>
              <a:spcAft>
                <a:spcPts val="800"/>
              </a:spcAft>
              <a:defRPr sz="1300">
                <a:solidFill>
                  <a:srgbClr val="3A3A3A"/>
                </a:solidFill>
                <a:latin typeface="Calibri"/>
              </a:defRPr>
              <a:buChar char="●"/>
              <a:buClr>
                <a:srgbClr val="8DE718"/>
              </a:buClr>
            </a:pPr>
            <a:r>
              <a:t>1.042 investidores ativos | 72,1% retenção | 8,35 investimentos/investidor</a:t>
            </a:r>
          </a:p>
          <a:p>
            <a:pPr>
              <a:spcAft>
                <a:spcPts val="800"/>
              </a:spcAft>
              <a:defRPr sz="1300">
                <a:solidFill>
                  <a:srgbClr val="3A3A3A"/>
                </a:solidFill>
                <a:latin typeface="Calibri"/>
              </a:defRPr>
              <a:buChar char="●"/>
              <a:buClr>
                <a:srgbClr val="8DE718"/>
              </a:buClr>
            </a:pPr>
            <a:r>
              <a:t>0% default em todas as ofertas públicas</a:t>
            </a:r>
          </a:p>
          <a:p>
            <a:pPr>
              <a:spcAft>
                <a:spcPts val="800"/>
              </a:spcAft>
              <a:defRPr sz="1300">
                <a:solidFill>
                  <a:srgbClr val="3A3A3A"/>
                </a:solidFill>
                <a:latin typeface="Calibri"/>
              </a:defRPr>
              <a:buChar char="●"/>
              <a:buClr>
                <a:srgbClr val="8DE718"/>
              </a:buClr>
            </a:pPr>
            <a:r>
              <a:t>R$30M pipeline ativo — R$10M prontos para contrato</a:t>
            </a:r>
          </a:p>
          <a:p>
            <a:pPr>
              <a:spcAft>
                <a:spcPts val="800"/>
              </a:spcAft>
              <a:defRPr sz="1300">
                <a:solidFill>
                  <a:srgbClr val="3A3A3A"/>
                </a:solidFill>
                <a:latin typeface="Calibri"/>
              </a:defRPr>
              <a:buChar char="●"/>
              <a:buClr>
                <a:srgbClr val="8DE718"/>
              </a:buClr>
            </a:pPr>
            <a:r>
              <a:t>Diagnóstico EY concluído — Big-Four compliance blueprint</a:t>
            </a:r>
          </a:p>
        </p:txBody>
      </p:sp>
      <p:sp>
        <p:nvSpPr>
          <p:cNvPr id="8" name="Rectangle 7"/>
          <p:cNvSpPr/>
          <p:nvPr/>
        </p:nvSpPr>
        <p:spPr>
          <a:xfrm>
            <a:off x="7132320" y="1920240"/>
            <a:ext cx="4297680" cy="420624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0" y="2011680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8DE718"/>
                </a:solidFill>
                <a:latin typeface="Calibri"/>
              </a:defRPr>
            </a:pPr>
            <a:r>
              <a:t>Ecossistema: tBRL + TKNZ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0" y="2651760"/>
            <a:ext cx="3931920" cy="1463040"/>
          </a:xfrm>
          <a:prstGeom prst="rect">
            <a:avLst/>
          </a:prstGeom>
          <a:solidFill>
            <a:srgbClr val="293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79" y="274320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8DE718"/>
                </a:solidFill>
                <a:latin typeface="Calibri"/>
              </a:defRPr>
            </a:pPr>
            <a:r>
              <a:t>tBRL — Stablecoin 1:1 BRL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79" y="3108960"/>
            <a:ext cx="3566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Proof of reserves on-chain</a:t>
            </a:r>
            <a:br/>
            <a:r>
              <a:t>Ramp PIX integrado (&lt; 3s)</a:t>
            </a:r>
            <a:br/>
            <a:r>
              <a:t>Multi-chain: Moonbeam, Ethereum, BSC</a:t>
            </a:r>
            <a:br/>
            <a:r>
              <a:t>XRPL será a próxima fronteira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0" y="4297680"/>
            <a:ext cx="3931920" cy="1188720"/>
          </a:xfrm>
          <a:prstGeom prst="rect">
            <a:avLst/>
          </a:prstGeom>
          <a:solidFill>
            <a:srgbClr val="293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79" y="438912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8DE718"/>
                </a:solidFill>
                <a:latin typeface="Calibri"/>
              </a:defRPr>
            </a:pPr>
            <a:r>
              <a:t>TKNZ — Token de Utilidade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79" y="4754880"/>
            <a:ext cx="3566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DeFi e investimentos</a:t>
            </a:r>
            <a:br/>
            <a:r>
              <a:t>Pool tBRL/TKNZ para liquidez</a:t>
            </a:r>
            <a:br/>
            <a:r>
              <a:t>Tokenomics finalizada, TGE em preparação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8DE7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8DE7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A1A1A"/>
                </a:solidFill>
                <a:latin typeface="Calibri"/>
              </a:defRPr>
            </a:pPr>
            <a:r>
              <a:t>O Fluxo em 4 Etapas — Liquidação em tBRL na XRPL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73152" cy="457200"/>
          </a:xfrm>
          <a:prstGeom prst="rect">
            <a:avLst/>
          </a:prstGeom>
          <a:solidFill>
            <a:srgbClr val="8DE7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2344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A3A3A"/>
                </a:solidFill>
                <a:latin typeface="Calibri"/>
              </a:defRPr>
            </a:pPr>
            <a:r>
              <a:t>Do ativo real brasileiro ao investidor qualificado. Tudo mensurável, tudo rastreável.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011680"/>
            <a:ext cx="2468880" cy="2560320"/>
          </a:xfrm>
          <a:prstGeom prst="rect">
            <a:avLst/>
          </a:prstGeom>
          <a:solidFill>
            <a:srgbClr val="F3F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645920" y="2194560"/>
            <a:ext cx="640080" cy="640080"/>
          </a:xfrm>
          <a:prstGeom prst="ellipse">
            <a:avLst/>
          </a:prstGeom>
          <a:solidFill>
            <a:srgbClr val="8DE7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45920" y="224028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1A1A1A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0175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63C100"/>
                </a:solidFill>
                <a:latin typeface="Calibri"/>
              </a:defRPr>
            </a:pPr>
            <a:r>
              <a:t>ORIGINAÇÃO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474720"/>
            <a:ext cx="2103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3A3A3A"/>
                </a:solidFill>
                <a:latin typeface="Calibri"/>
              </a:defRPr>
            </a:pPr>
            <a:r>
              <a:t>Ativo real brasileiro</a:t>
            </a:r>
            <a:br/>
            <a:r>
              <a:t>identificado e estruturado</a:t>
            </a:r>
            <a:br/>
            <a:r>
              <a:t>na plataforma Tokeniza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301752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8DE718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74720" y="2011680"/>
            <a:ext cx="2468880" cy="2560320"/>
          </a:xfrm>
          <a:prstGeom prst="rect">
            <a:avLst/>
          </a:prstGeom>
          <a:solidFill>
            <a:srgbClr val="F3F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389120" y="2194560"/>
            <a:ext cx="640080" cy="640080"/>
          </a:xfrm>
          <a:prstGeom prst="ellipse">
            <a:avLst/>
          </a:prstGeom>
          <a:solidFill>
            <a:srgbClr val="8DE7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89120" y="224028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1A1A1A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30175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63C100"/>
                </a:solidFill>
                <a:latin typeface="Calibri"/>
              </a:defRPr>
            </a:pPr>
            <a:r>
              <a:t>TOKENIZAÇÃO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3474720"/>
            <a:ext cx="2103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3A3A3A"/>
                </a:solidFill>
                <a:latin typeface="Calibri"/>
              </a:defRPr>
            </a:pPr>
            <a:r>
              <a:t>Token emitido com</a:t>
            </a:r>
            <a:br/>
            <a:r>
              <a:t>conformidade CVM 88</a:t>
            </a:r>
            <a:br/>
            <a:r>
              <a:t>na XRP Ledger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0" y="301752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8DE718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0" y="2011680"/>
            <a:ext cx="2468880" cy="2560320"/>
          </a:xfrm>
          <a:prstGeom prst="rect">
            <a:avLst/>
          </a:prstGeom>
          <a:solidFill>
            <a:srgbClr val="F3F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132320" y="2194560"/>
            <a:ext cx="640080" cy="640080"/>
          </a:xfrm>
          <a:prstGeom prst="ellipse">
            <a:avLst/>
          </a:prstGeom>
          <a:solidFill>
            <a:srgbClr val="8DE7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32320" y="224028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1A1A1A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30175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63C100"/>
                </a:solidFill>
                <a:latin typeface="Calibri"/>
              </a:defRPr>
            </a:pPr>
            <a:r>
              <a:t>DISTRIBUIÇÃO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3474720"/>
            <a:ext cx="2103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3A3A3A"/>
                </a:solidFill>
                <a:latin typeface="Calibri"/>
              </a:defRPr>
            </a:pPr>
            <a:r>
              <a:t>Investidores qualificados</a:t>
            </a:r>
            <a:br/>
            <a:r>
              <a:t>acessam via plataforma</a:t>
            </a:r>
            <a:br/>
            <a:r>
              <a:t>com KYC/AML completo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0" y="301752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8DE718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961120" y="2011680"/>
            <a:ext cx="2468880" cy="256032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875520" y="2194560"/>
            <a:ext cx="640080" cy="640080"/>
          </a:xfrm>
          <a:prstGeom prst="ellipse">
            <a:avLst/>
          </a:prstGeom>
          <a:solidFill>
            <a:srgbClr val="8DE7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875520" y="224028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1A1A1A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0" y="30175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8DE718"/>
                </a:solidFill>
                <a:latin typeface="Calibri"/>
              </a:defRPr>
            </a:pPr>
            <a:r>
              <a:t>LIQUIDAÇÃO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0" y="3474720"/>
            <a:ext cx="2103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  <a:latin typeface="Calibri"/>
              </a:defRPr>
            </a:pPr>
            <a:r>
              <a:t>Pagamento em tBRL</a:t>
            </a:r>
            <a:br/>
            <a:r>
              <a:t>na XRPL — D0</a:t>
            </a:r>
            <a:br/>
            <a:r>
              <a:t>vs. D+2 tradicional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1520" y="4846320"/>
            <a:ext cx="10698480" cy="1371600"/>
          </a:xfrm>
          <a:prstGeom prst="rect">
            <a:avLst/>
          </a:prstGeom>
          <a:solidFill>
            <a:srgbClr val="63C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4400" y="489204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O QUE O POC VALIDA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286000" y="521208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Calibri"/>
              </a:defRPr>
              <a:buChar char="●"/>
              <a:buClr>
                <a:srgbClr val="8DE718"/>
              </a:buClr>
            </a:pPr>
            <a:r>
              <a:t>Conformidade CVM 88 na XRPL — precedente regulatório inédito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Calibri"/>
              </a:defRPr>
              <a:buChar char="●"/>
              <a:buClr>
                <a:srgbClr val="8DE718"/>
              </a:buClr>
            </a:pPr>
            <a:r>
              <a:t>Liquidação D0 em tBRL vs. D+2 do mercado tradicional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Calibri"/>
              </a:defRPr>
              <a:buChar char="●"/>
              <a:buClr>
                <a:srgbClr val="8DE718"/>
              </a:buClr>
            </a:pPr>
            <a:r>
              <a:t>Ciclo completo verificável on-chain em real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Calibri"/>
              </a:defRPr>
              <a:buChar char="●"/>
              <a:buClr>
                <a:srgbClr val="8DE718"/>
              </a:buClr>
            </a:pPr>
            <a:r>
              <a:t>tBRL como instrumento de pagamento institucional em blockchain pública</a:t>
            </a:r>
          </a:p>
        </p:txBody>
      </p:sp>
      <p:sp>
        <p:nvSpPr>
          <p:cNvPr id="32" name="Rectangle 31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8DE7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8DE7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A Tokeniza em Números: Operação Real, Não Projeção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63040"/>
            <a:ext cx="3291840" cy="1371600"/>
          </a:xfrm>
          <a:prstGeom prst="rect">
            <a:avLst/>
          </a:prstGeom>
          <a:solidFill>
            <a:srgbClr val="293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8DE718"/>
                </a:solidFill>
                <a:latin typeface="Calibri"/>
              </a:defRPr>
            </a:pPr>
            <a:r>
              <a:t>R$22M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49494"/>
                </a:solidFill>
                <a:latin typeface="Calibri"/>
              </a:defRPr>
            </a:pPr>
            <a:r>
              <a:t>Captados</a:t>
            </a:r>
          </a:p>
        </p:txBody>
      </p:sp>
      <p:sp>
        <p:nvSpPr>
          <p:cNvPr id="7" name="Rectangle 6"/>
          <p:cNvSpPr/>
          <p:nvPr/>
        </p:nvSpPr>
        <p:spPr>
          <a:xfrm>
            <a:off x="4389120" y="1463040"/>
            <a:ext cx="3291840" cy="1371600"/>
          </a:xfrm>
          <a:prstGeom prst="rect">
            <a:avLst/>
          </a:prstGeom>
          <a:solidFill>
            <a:srgbClr val="293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89120" y="1645920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8DE718"/>
                </a:solidFill>
                <a:latin typeface="Calibri"/>
              </a:defRPr>
            </a:pPr>
            <a:r>
              <a:t>136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0" y="228600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49494"/>
                </a:solidFill>
                <a:latin typeface="Calibri"/>
              </a:defRPr>
            </a:pPr>
            <a:r>
              <a:t>Ofertas Estruturadas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46720" y="1463040"/>
            <a:ext cx="3291840" cy="1371600"/>
          </a:xfrm>
          <a:prstGeom prst="rect">
            <a:avLst/>
          </a:prstGeom>
          <a:solidFill>
            <a:srgbClr val="293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0" y="1645920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8DE718"/>
                </a:solidFill>
                <a:latin typeface="Calibri"/>
              </a:defRPr>
            </a:pPr>
            <a:r>
              <a:t>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0" y="228600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49494"/>
                </a:solidFill>
                <a:latin typeface="Calibri"/>
              </a:defRPr>
            </a:pPr>
            <a:r>
              <a:t>Default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3108960"/>
            <a:ext cx="3291840" cy="1371600"/>
          </a:xfrm>
          <a:prstGeom prst="rect">
            <a:avLst/>
          </a:prstGeom>
          <a:solidFill>
            <a:srgbClr val="293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291840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8DE718"/>
                </a:solidFill>
                <a:latin typeface="Calibri"/>
              </a:defRPr>
            </a:pPr>
            <a:r>
              <a:t>72,1%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93192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49494"/>
                </a:solidFill>
                <a:latin typeface="Calibri"/>
              </a:defRPr>
            </a:pPr>
            <a:r>
              <a:t>Retenção de Investidores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89120" y="3108960"/>
            <a:ext cx="3291840" cy="1371600"/>
          </a:xfrm>
          <a:prstGeom prst="rect">
            <a:avLst/>
          </a:prstGeom>
          <a:solidFill>
            <a:srgbClr val="293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89120" y="3291840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8DE718"/>
                </a:solidFill>
                <a:latin typeface="Calibri"/>
              </a:defRPr>
            </a:pPr>
            <a:r>
              <a:t>1.042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0" y="393192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49494"/>
                </a:solidFill>
                <a:latin typeface="Calibri"/>
              </a:defRPr>
            </a:pPr>
            <a:r>
              <a:t>Investidores Ativos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46720" y="3108960"/>
            <a:ext cx="3291840" cy="1371600"/>
          </a:xfrm>
          <a:prstGeom prst="rect">
            <a:avLst/>
          </a:prstGeom>
          <a:solidFill>
            <a:srgbClr val="293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6720" y="3291840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8DE718"/>
                </a:solidFill>
                <a:latin typeface="Calibri"/>
              </a:defRPr>
            </a:pPr>
            <a:r>
              <a:t>R$30M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6720" y="393192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49494"/>
                </a:solidFill>
                <a:latin typeface="Calibri"/>
              </a:defRPr>
            </a:pPr>
            <a:r>
              <a:t>Pipeline Ativo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4937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8DE718"/>
                </a:solidFill>
                <a:latin typeface="Calibri"/>
              </a:defRPr>
            </a:pPr>
            <a:r>
              <a:t>VALIDAÇÕES INSTITUCIONAIS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530352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Calibri"/>
              </a:defRPr>
              <a:buChar char="●"/>
              <a:buClr>
                <a:srgbClr val="8DE718"/>
              </a:buClr>
            </a:pPr>
            <a:r>
              <a:t>Diagnóstico EY concluído — Big-Four compliance blueprint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Calibri"/>
              </a:defRPr>
              <a:buChar char="●"/>
              <a:buClr>
                <a:srgbClr val="8DE718"/>
              </a:buClr>
            </a:pPr>
            <a:r>
              <a:t>Maiores volumes na Moonbeam — 2 grants recebidos da Moonbeam Foundation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Calibri"/>
              </a:defRPr>
              <a:buChar char="●"/>
              <a:buClr>
                <a:srgbClr val="8DE718"/>
              </a:buClr>
            </a:pPr>
            <a:r>
              <a:t>Startup Visa Portugal aprovada — presença em Aveiro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Calibri"/>
              </a:defRPr>
              <a:buChar char="●"/>
              <a:buClr>
                <a:srgbClr val="8DE718"/>
              </a:buClr>
            </a:pPr>
            <a:r>
              <a:t>Parceria Dunna Capital — R$500M em originação em 36 meses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Calibri"/>
              </a:defRPr>
              <a:buChar char="●"/>
              <a:buClr>
                <a:srgbClr val="8DE718"/>
              </a:buClr>
            </a:pPr>
            <a:r>
              <a:t>Destaque: IstoÉ Dinheiro, Cointelegraph, UOL Economia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8DE7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8DE7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A1A1A"/>
                </a:solidFill>
                <a:latin typeface="Calibri"/>
              </a:defRPr>
            </a:pPr>
            <a:r>
              <a:t>Do POC ao Protocolo Padrão: Expansão em 3 Fases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3291840" cy="3200400"/>
          </a:xfrm>
          <a:prstGeom prst="rect">
            <a:avLst/>
          </a:prstGeom>
          <a:solidFill>
            <a:srgbClr val="F3F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3291840" cy="54864"/>
          </a:xfrm>
          <a:prstGeom prst="rect">
            <a:avLst/>
          </a:prstGeom>
          <a:solidFill>
            <a:srgbClr val="8DE7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3C100"/>
                </a:solidFill>
                <a:latin typeface="Calibri"/>
              </a:defRPr>
            </a:pPr>
            <a:r>
              <a:t>FASE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1A1A"/>
                </a:solidFill>
                <a:latin typeface="Calibri"/>
              </a:defRPr>
            </a:pPr>
            <a:r>
              <a:t>POC Validado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9494"/>
                </a:solidFill>
                <a:latin typeface="Calibri"/>
              </a:defRPr>
            </a:pPr>
            <a:r>
              <a:t>0–6 meses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834640"/>
            <a:ext cx="2926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A3A3A"/>
                </a:solidFill>
                <a:latin typeface="Calibri"/>
              </a:defRPr>
            </a:pPr>
            <a:r>
              <a:t>Primeiro protocolo de crédito</a:t>
            </a:r>
            <a:br/>
            <a:r>
              <a:t>regulado do Brasil operando</a:t>
            </a:r>
            <a:br/>
            <a:r>
              <a:t>em blockchain pública</a:t>
            </a:r>
            <a:br/>
            <a:r>
              <a:t>com stablecoin própria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89120" y="1371600"/>
            <a:ext cx="3291840" cy="3200400"/>
          </a:xfrm>
          <a:prstGeom prst="rect">
            <a:avLst/>
          </a:prstGeom>
          <a:solidFill>
            <a:srgbClr val="F3F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0" y="1371600"/>
            <a:ext cx="3291840" cy="54864"/>
          </a:xfrm>
          <a:prstGeom prst="rect">
            <a:avLst/>
          </a:prstGeom>
          <a:solidFill>
            <a:srgbClr val="8DE7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15544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3C100"/>
                </a:solidFill>
                <a:latin typeface="Calibri"/>
              </a:defRPr>
            </a:pPr>
            <a:r>
              <a:t>FASE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192024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1A1A"/>
                </a:solidFill>
                <a:latin typeface="Calibri"/>
              </a:defRPr>
            </a:pPr>
            <a:r>
              <a:t>Escala Nacional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37744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9494"/>
                </a:solidFill>
                <a:latin typeface="Calibri"/>
              </a:defRPr>
            </a:pPr>
            <a:r>
              <a:t>6–18 meses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2834640"/>
            <a:ext cx="2926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A3A3A"/>
                </a:solidFill>
                <a:latin typeface="Calibri"/>
              </a:defRPr>
            </a:pPr>
            <a:r>
              <a:t>Expansão de originação</a:t>
            </a:r>
            <a:br/>
            <a:r>
              <a:t>Onboarding de emissores</a:t>
            </a:r>
            <a:br/>
            <a:r>
              <a:t>Licensing B2B da</a:t>
            </a:r>
            <a:br/>
            <a:r>
              <a:t>infraestrutura Tokeniza × XRPL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46720" y="1371600"/>
            <a:ext cx="3291840" cy="32004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46720" y="1371600"/>
            <a:ext cx="3291840" cy="54864"/>
          </a:xfrm>
          <a:prstGeom prst="rect">
            <a:avLst/>
          </a:prstGeom>
          <a:solidFill>
            <a:srgbClr val="8DE7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0" y="15544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8DE718"/>
                </a:solidFill>
                <a:latin typeface="Calibri"/>
              </a:defRPr>
            </a:pPr>
            <a:r>
              <a:t>FASE 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192024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Expansão Global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237744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9494"/>
                </a:solidFill>
                <a:latin typeface="Calibri"/>
              </a:defRPr>
            </a:pPr>
            <a:r>
              <a:t>18–36 meses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2834640"/>
            <a:ext cx="2926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Infraestrutura padrão para</a:t>
            </a:r>
            <a:br/>
            <a:r>
              <a:t>emissores brasileiros</a:t>
            </a:r>
            <a:br/>
            <a:r>
              <a:t>acessarem capital global</a:t>
            </a:r>
            <a:br/>
            <a:r>
              <a:t>via XRPL com tBRL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" y="4846320"/>
            <a:ext cx="10698480" cy="146304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489204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8DE718"/>
                </a:solidFill>
                <a:latin typeface="Calibri"/>
              </a:defRPr>
            </a:pPr>
            <a:r>
              <a:t>MODELO DE RECEITA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52578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8DE718"/>
                </a:solidFill>
                <a:latin typeface="Calibri"/>
              </a:defRPr>
            </a:pPr>
            <a:r>
              <a:t>~11%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" y="562356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Calibri"/>
              </a:defRPr>
            </a:pPr>
            <a:r>
              <a:t>Fee de emissão</a:t>
            </a:r>
            <a:br/>
            <a:r>
              <a:t>sobre volume captado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49040" y="52578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8DE718"/>
                </a:solidFill>
                <a:latin typeface="Calibri"/>
              </a:defRPr>
            </a:pPr>
            <a:r>
              <a:t>Gestão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749040" y="562356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Calibri"/>
              </a:defRPr>
            </a:pPr>
            <a:r>
              <a:t>Custódia e administração</a:t>
            </a:r>
            <a:br/>
            <a:r>
              <a:t>dos ativos tokenizados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52578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8DE718"/>
                </a:solidFill>
                <a:latin typeface="Calibri"/>
              </a:defRPr>
            </a:pPr>
            <a:r>
              <a:t>B2B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562356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Calibri"/>
              </a:defRPr>
            </a:pPr>
            <a:r>
              <a:t>Licensing infraestrutura</a:t>
            </a:r>
            <a:br/>
            <a:r>
              <a:t>Tokeniza × XRPL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52560" y="52578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8DE718"/>
                </a:solidFill>
                <a:latin typeface="Calibri"/>
              </a:defRPr>
            </a:pPr>
            <a:r>
              <a:t>TKNZ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52560" y="562356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Calibri"/>
              </a:defRPr>
            </a:pPr>
            <a:r>
              <a:t>DeFi pool tBRL/TKNZ</a:t>
            </a:r>
            <a:br/>
            <a:r>
              <a:t>liquidez e engajamento</a:t>
            </a:r>
          </a:p>
        </p:txBody>
      </p:sp>
      <p:sp>
        <p:nvSpPr>
          <p:cNvPr id="32" name="Rectangle 31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8DE7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8DE7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731520"/>
            <a:ext cx="9418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O Brasil tem os ativos. O mundo tem o capital.</a:t>
            </a:r>
            <a:br/>
            <a:r>
              <a:t>A XRPL tem a rede. A Tokeniza tem tudo o mais.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0" y="2286000"/>
            <a:ext cx="2103120" cy="36576"/>
          </a:xfrm>
          <a:prstGeom prst="rect">
            <a:avLst/>
          </a:prstGeom>
          <a:solidFill>
            <a:srgbClr val="8DE7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2560320"/>
            <a:ext cx="9418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49494"/>
                </a:solidFill>
                <a:latin typeface="Calibri"/>
              </a:defRPr>
            </a:pPr>
            <a:r>
              <a:t>A Tokeniza tem regulação, originação, distribuição, stablecoin própria e histórico provado.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2918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8DE718"/>
                </a:solidFill>
                <a:latin typeface="Calibri"/>
              </a:defRPr>
            </a:pPr>
            <a:r>
              <a:t>O QUE BUSCAMOS NO NEXT DAY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749039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  <a:latin typeface="Calibri"/>
              </a:defRPr>
              <a:buChar char="●"/>
              <a:buClr>
                <a:srgbClr val="8DE718"/>
              </a:buClr>
            </a:pPr>
            <a:r>
              <a:t>Conexão com ecossistema XRPL/Ripple para integração técnica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  <a:latin typeface="Calibri"/>
              </a:defRPr>
              <a:buChar char="●"/>
              <a:buClr>
                <a:srgbClr val="8DE718"/>
              </a:buClr>
            </a:pPr>
            <a:r>
              <a:t>Parceiros de distribuição institucional europeia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  <a:latin typeface="Calibri"/>
              </a:defRPr>
              <a:buChar char="●"/>
              <a:buClr>
                <a:srgbClr val="8DE718"/>
              </a:buClr>
            </a:pPr>
            <a:r>
              <a:t>Validação e suporte para POC cross-border em tBRL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32918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8DE718"/>
                </a:solidFill>
                <a:latin typeface="Calibri"/>
              </a:defRPr>
            </a:pPr>
            <a:r>
              <a:t>MOMENTUM ATUAL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3749039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  <a:latin typeface="Calibri"/>
              </a:defRPr>
              <a:buChar char="●"/>
              <a:buClr>
                <a:srgbClr val="8DE718"/>
              </a:buClr>
            </a:pPr>
            <a:r>
              <a:t>Rodada estratégica em andamento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  <a:latin typeface="Calibri"/>
              </a:defRPr>
              <a:buChar char="●"/>
              <a:buClr>
                <a:srgbClr val="8DE718"/>
              </a:buClr>
            </a:pPr>
            <a:r>
              <a:t>Startup Visa Portugal — Mychel relocando para Aveiro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  <a:latin typeface="Calibri"/>
              </a:defRPr>
              <a:buChar char="●"/>
              <a:buClr>
                <a:srgbClr val="8DE718"/>
              </a:buClr>
            </a:pPr>
            <a:r>
              <a:t>Dunna Capital — R$500M originação em 36 meses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  <a:latin typeface="Calibri"/>
              </a:defRPr>
              <a:buChar char="●"/>
              <a:buClr>
                <a:srgbClr val="8DE718"/>
              </a:buClr>
            </a:pPr>
            <a:r>
              <a:t>R$10M pipeline prontos para contrato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  <a:latin typeface="Calibri"/>
              </a:defRPr>
              <a:buChar char="●"/>
              <a:buClr>
                <a:srgbClr val="8DE718"/>
              </a:buClr>
            </a:pPr>
            <a:r>
              <a:t>TKNZ — TGE em preparação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  <a:latin typeface="Calibri"/>
              </a:defRPr>
              <a:buChar char="●"/>
              <a:buClr>
                <a:srgbClr val="8DE718"/>
              </a:buClr>
            </a:pPr>
            <a:r>
              <a:t>tBRL multi-chain com proof of reserves on-chain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0" y="5486400"/>
            <a:ext cx="5760720" cy="914400"/>
          </a:xfrm>
          <a:prstGeom prst="rect">
            <a:avLst/>
          </a:prstGeom>
          <a:solidFill>
            <a:srgbClr val="293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0" y="5577840"/>
            <a:ext cx="5760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Filipe Chagas — COO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5943600"/>
            <a:ext cx="5760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DE718"/>
                </a:solidFill>
                <a:latin typeface="Calibri"/>
              </a:defRPr>
            </a:pPr>
            <a:r>
              <a:t>tokeniza.com.br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8DE7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